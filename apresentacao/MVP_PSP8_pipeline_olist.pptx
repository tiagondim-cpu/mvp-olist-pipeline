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3368f3c-fca1-8f99-325f-a0fb3bb99d4a}">
          <p14:sldIdLst>
            <p14:sldId id="256"/>
            <p14:sldId id="257"/>
            <p14:sldId id="258"/>
          </p14:sldIdLst>
        </p14:section>
        <p14:section name="Objetivo e dados" id="{6fd0d471-14bc-cfaf-ac78-f6aae9b2ec0d}">
          <p14:sldIdLst>
            <p14:sldId id="259"/>
            <p14:sldId id="260"/>
          </p14:sldIdLst>
        </p14:section>
        <p14:section name="Pipeline" id="{3621a8a3-4c00-c52d-f2de-cad87bd20345}">
          <p14:sldIdLst>
            <p14:sldId id="261"/>
            <p14:sldId id="262"/>
            <p14:sldId id="263"/>
          </p14:sldIdLst>
        </p14:section>
        <p14:section name="Resultados" id="{9c3ddf6b-0159-dab2-c9d9-af3aad277319}">
          <p14:sldIdLst>
            <p14:sldId id="264"/>
            <p14:sldId id="265"/>
            <p14:sldId id="266"/>
            <p14:sldId id="267"/>
          </p14:sldIdLst>
        </p14:section>
        <p14:section name="Fechamento" id="{2a596690-5a18-cd39-4cb1-256c3c6b0dbf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Postagem pelo vendedor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prazo</c:v>
                  </c:pt>
                  <c:pt idx="1">
                    <c:v>Atrasado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1.79</c:v>
                </c:pt>
                <c:pt idx="1">
                  <c:v>3.07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Transporte</c:v>
                </c:pt>
              </c:strCache>
            </c:strRef>
          </c:tx>
          <c:spPr>
            <a:solidFill>
              <a:srgbClr val="1F5F99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prazo</c:v>
                  </c:pt>
                  <c:pt idx="1">
                    <c:v>Atrasado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6.96</c:v>
                </c:pt>
                <c:pt idx="1">
                  <c:v>26.2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8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875"/>
                    </a:solidFill>
                    <a:latin typeface="Arial"/>
                  </a:rPr>
                  <a:t>dias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8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atraso</c:v>
                </c:pt>
              </c:strCache>
            </c:strRef>
          </c:tx>
          <c:spPr>
            <a:solidFill>
              <a:srgbClr val="1F5F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jan/17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  <c:pt idx="12">
                    <c:v>jan/18</c:v>
                  </c:pt>
                  <c:pt idx="13">
                    <c:v>fev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mai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ago/18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2.93</c:v>
                </c:pt>
                <c:pt idx="1">
                  <c:v>2.96</c:v>
                </c:pt>
                <c:pt idx="2">
                  <c:v>4.56</c:v>
                </c:pt>
                <c:pt idx="3">
                  <c:v>6.56</c:v>
                </c:pt>
                <c:pt idx="4">
                  <c:v>2.99</c:v>
                </c:pt>
                <c:pt idx="5">
                  <c:v>3.03</c:v>
                </c:pt>
                <c:pt idx="6">
                  <c:v>2.79</c:v>
                </c:pt>
                <c:pt idx="7">
                  <c:v>2.91</c:v>
                </c:pt>
                <c:pt idx="8">
                  <c:v>4.39</c:v>
                </c:pt>
                <c:pt idx="9">
                  <c:v>4.18</c:v>
                </c:pt>
                <c:pt idx="10">
                  <c:v>12.4</c:v>
                </c:pt>
                <c:pt idx="11">
                  <c:v>7.46</c:v>
                </c:pt>
                <c:pt idx="12">
                  <c:v>5.7</c:v>
                </c:pt>
                <c:pt idx="13">
                  <c:v>14.13</c:v>
                </c:pt>
                <c:pt idx="14">
                  <c:v>18.96</c:v>
                </c:pt>
                <c:pt idx="15">
                  <c:v>4.5</c:v>
                </c:pt>
                <c:pt idx="16">
                  <c:v>6.56</c:v>
                </c:pt>
                <c:pt idx="17">
                  <c:v>1.16</c:v>
                </c:pt>
                <c:pt idx="18">
                  <c:v>3.38</c:v>
                </c:pt>
                <c:pt idx="19">
                  <c:v>6.19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8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Avaliação ruim</c:v>
                </c:pt>
              </c:strCache>
            </c:strRef>
          </c:tx>
          <c:spPr>
            <a:solidFill>
              <a:srgbClr val="1F5F9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F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 prazo</c:v>
                  </c:pt>
                  <c:pt idx="1">
                    <c:v>1 a 3 dias</c:v>
                  </c:pt>
                  <c:pt idx="2">
                    <c:v>4 a 7 dias</c:v>
                  </c:pt>
                  <c:pt idx="3">
                    <c:v>8 a 14 dias</c:v>
                  </c:pt>
                  <c:pt idx="4">
                    <c:v>15 ou mais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9.3</c:v>
                </c:pt>
                <c:pt idx="1">
                  <c:v>32.1</c:v>
                </c:pt>
                <c:pt idx="2">
                  <c:v>67.7</c:v>
                </c:pt>
                <c:pt idx="3">
                  <c:v>80.2</c:v>
                </c:pt>
                <c:pt idx="4">
                  <c:v>78.4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A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conclusão: o MVP mostra que o atraso de entrega da Olist nasce no transporte, não no vendedor, ao contrário da hipótese de partida. Todo o trabalho rodou no Databricks e está no repositório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números resumem o trabalho. A taxa de atraso é de 6,8%. Desses atrasos, 72% não têm culpa do vendedor. E o custo em satisfação é alto e precoce. A recomendação sai direto desses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define o MVP como o menor experimento que gera aprendizado validado. O trabalho seguiu o ciclo ideia, construir, produto, medir, dados e aprender, e o aprendizado principal foi a refutação da hipótese.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insiste que o objetivo vem antes dos dados. Defini o problema, uma hipótese com critério numérico e seis perguntas ligadas a decisões. Nenhuma pergunta foi removida depois da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coleta é reprodutível: qualquer pessoa com uma conta gratuita roda o notebook 01 e obtém os mesmos arquivos, porque a versão 2 do conjunto está fixada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camada tem uma função e uma trava automática. As 19 regras de negócio estão documentadas no repositório, com o motivo de cada uma. O pipeline é idempotente: rodei o job cinco vezes durante o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grão de pedido é a decisão central: no grão de item, um pedido com três itens contaria três atrasos. As capturas mostram que o catálogo não ficou só no repositório: as descrições estão na plataforma e a linhagem foi registrada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Qualidade foi avaliada em três níveis. O mais importante: nenhuma violação bloqueante. As falhas encontradas são pequenas, ficam isoladas por regras explícitas e não mudam as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resposta central. O critério era 50%: só 27,9% dos atrasos têm origem no vendedor. E a regra de atribuição favorece culpar o vendedor, então a conclusão é conservadora.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16 dos 20 meses a taxa ficou abaixo de 6,6%. O problema é de pico e de rota. A distância também pesa: a taxa vai de 4,5% até 100 km a 12,1% acima de 2.000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mediana, todas as UFs recebem antes do prometido. O problema está na cauda: a promessa deveria sair de um percentil alto do transporte por rota, não de uma folga fixa. Do lado do cliente, a satisfação desaba entre o primeiro e o quarto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discussão geral transforma as seis respostas numa ordem de prioridade. Os dados são observacionais: cada ação precisa de teste controlado antes de virar política.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Validar com uma segunda implementação independente não é exigência do enunciado, mas é o que dá confiança nos números. E ela provou seu valor: achou um erro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aprendizado principal do MVP foi a hipótese errada: a intuição apontava para o vendedor e os dados apontaram para o transporte. Resultados negativos são legítimos, como diz 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mensagem central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D9822B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5F99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87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75"/>
                </a:solidFill>
              </a:rPr>
              <a:t>Tiago Andre Gondim · 231013476 · EPR0050 PSP8 T01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32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</a:rPr>
              <a:t>UNIVERSIDADE DE BRASÍLIA  ·  FACULDADE DE TECNOLOGIA  ·  ENGENHARIA DE PRODUÇÃO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Onde o prazo de entrega falha e quanto isso custa em satisfação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6"/>
                </a:solidFill>
              </a:rPr>
              <a:t>MVP: pipeline de dados em nuvem no Databricks, da coleta à decisão, sobre 99.441 pedidos do marketplace Olist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09728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F3A5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0" y="1371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72,1%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23774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EE6"/>
                </a:solidFill>
              </a:rPr>
              <a:t>dos atrasos acontecem com o vendedor postando dentro do prazo: o problema está no transporte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63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6DEE6"/>
                </a:solidFill>
              </a:rPr>
              <a:t>Tiago Andre Gondim  ·  matrícula 231013476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6DEE6"/>
                </a:solidFill>
              </a:rPr>
              <a:t>EPR0050, Projeto de Sistemas de Produção 8  ·  Turma T01  ·  2026.2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6DEE6"/>
                </a:solidFill>
              </a:rPr>
              <a:t>Prof. Dr. André Luiz Marques Serrano  ·  Atividade individual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github.com/tiagondim-cpu/mvp-olist-pipeline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RESUMO EXECUTIVO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A hipótese caiu: o atraso nasce no transporte, não no vendedor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Seis perguntas respondidas sobre 96.470 pedidos entregues, de janeiro/2017 a agosto/2018, com o pipeline executado na nuvem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6,8%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92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dos pedidos entregues chegaram depois da data prometida (6.534 pedidos)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72,1%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992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dos atrasos com o vendedor postando no prazo: a hipótese H1 (vendedor) foi refutada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1031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</a:rPr>
              <a:t>68%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9992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dos clientes dão nota 1 ou 2 com 4 a 7 dias de atraso, contra 9% no prazo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109960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2793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</a:rPr>
              <a:t>O que a operação deve fazer, em ordem de retorno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</a:rPr>
              <a:t>Cobrar a transportadora nas rotas críticas: SP→RJ sozinha responde por 17,6% de todos os atrasos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</a:rPr>
              <a:t>Planejar os picos: três meses concentram 48% dos atrasos com 22% dos pedidos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</a:rPr>
              <a:t>Calcular a data prometida por rota e contatar o cliente antes do quarto dia de atraso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</a:rPr>
              <a:t>Programa de vendedores como alavanca secundária: no máximo 1,9 ponto percentual de ganho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MAPA DO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O MVP percorreu o ciclo completo de experimentação do enunciado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Cada etapa do ciclo tem um artefato verificável no repositório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828800" cy="822960"/>
          </a:xfrm>
          <a:prstGeom prst="chevron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Ideia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Problema, hipótese H1 e 6 perguntas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32304" y="2194560"/>
            <a:ext cx="1828800" cy="822960"/>
          </a:xfrm>
          <a:prstGeom prst="chevron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06624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Construir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32304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Coleta, modelagem e carga no Databricks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2194560"/>
            <a:ext cx="1828800" cy="822960"/>
          </a:xfrm>
          <a:prstGeom prst="chevron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Produto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Job de 5 tarefas e repositório público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2194560"/>
            <a:ext cx="1828800" cy="822960"/>
          </a:xfrm>
          <a:prstGeom prst="chevron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Medir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Qualidade e consultas SQL na gold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83296" y="2194560"/>
            <a:ext cx="1828800" cy="822960"/>
          </a:xfrm>
          <a:prstGeom prst="chevron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Dados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83296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Tabelas, gráficos e resumo exportados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66960" y="2194560"/>
            <a:ext cx="1828800" cy="822960"/>
          </a:xfrm>
          <a:prstGeom prst="chevron">
            <a:avLst/>
          </a:prstGeom>
          <a:solidFill>
            <a:srgbClr val="D98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Aprender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3154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H1 refutada, discussão e autoavaliação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99"/>
                </a:solidFill>
              </a:rPr>
              <a:t>Viabilidade técnica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</a:rPr>
              <a:t>Pipeline executado ponta a ponta no Databricks Free Edition em cerca de 6 minutos, com 28 tabelas Delta persistidas no Unity Catalog.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4251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</a:rPr>
              <a:t>Viabilidade financeira e desejabilidade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</a:rPr>
              <a:t>Custo zero no plano gratuito. As seis perguntas foram respondidas com número, discussão e decisão sugerida para o gestor de operações.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ETAPA 1  ·  OBJETIVO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Objetivo antes dos dados: onde agir primeiro quando o prazo falha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Problema do gestor de operações de um marketplace que não controla quem posta nem quem transporta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</a:rPr>
              <a:t>Hipótese H1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</a:rPr>
              <a:t>A maior parte dos atrasos nasce na postagem tardia do vendedor.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Critério fixado antes da análise: H1 se sustenta se mais da metade dos atrasos tiver origem no vendedor. Se verdadeira, um programa de vendedores seria a alavanca de maior retorno.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57400"/>
          <a:ext cx="6903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2697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 que apoia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atraso e picos mês a mês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8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para picos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Origem: vendedor ou transporte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8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agir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 críticas e efeito da distância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8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Renegociar transportadora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Calibração da data prometida por UF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8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Recalibrar promessa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por faixa de atraso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8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Gatilho de contato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Concentração das postagens tardias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8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de vendedores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ETAPA 2  ·  COLETA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Coleta: base pública e anonimizada, baixada direto para a nuvem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Brazilian E-Commerce Public Dataset by Olist, versão 2 no Kaggle, licença CC BY-NC-SA 4.0, coletada em 21/10/2026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9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92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arquivos CSV relacionados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1,55 mi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992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linhas no total (126 MB)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99.441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992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pedidos de set/2016 a out/2018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</a:rPr>
              <a:t>0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9992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bytes de dado bruto versionados no repositório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99"/>
                </a:solidFill>
              </a:rPr>
              <a:t>Como foi coletado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O notebook 01 baixa os arquivos com o pacote oficial kagglehub dentro do Databricks, grava os originais em um volume do Unity Catalog e registra arquivo, linhas, licença e data na tabela registro_coleta.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99"/>
                </a:solidFill>
              </a:rPr>
              <a:t>Ética e proteção de dados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572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Clientes e vendedores aparecem como códigos de 32 caracteres e o CEP só com 5 dígitos. Uso acadêmico, não comercial, compatível com a licença. O repositório publica o método, não os dados.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ETAPAS 3 E 4  ·  CARGA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Arquitetura medalhão: cada camada com uma função e uma verificação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Cinco notebooks encadeados em um job do Lakeflow Jobs, em computação serverless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99"/>
                </a:solidFill>
              </a:rPr>
              <a:t>Bronze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</a:rPr>
              <a:t>9 tabelas Delta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Cópia fiel, tudo como texto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</a:rPr>
              <a:t>Trava: Contagens iguais às dos arquivos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2971800"/>
            <a:ext cx="164592" cy="274320"/>
          </a:xfrm>
          <a:prstGeom prst="rightArrow">
            <a:avLst/>
          </a:prstGeom>
          <a:solidFill>
            <a:srgbClr val="D5DCE3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99"/>
                </a:solidFill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</a:rPr>
              <a:t>8 tabelas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Tipagem, deduplicação, 19 regras de negócio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</a:rPr>
              <a:t>Trava: Chaves únicas, nenhum pedido perdido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2971800"/>
            <a:ext cx="164592" cy="274320"/>
          </a:xfrm>
          <a:prstGeom prst="rightArrow">
            <a:avLst/>
          </a:prstGeom>
          <a:solidFill>
            <a:srgbClr val="D5DCE3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99"/>
                </a:solidFill>
              </a:rPr>
              <a:t>Gold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</a:rPr>
              <a:t>7 tabelas + 3 de qualidade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Modelo dimensional e catálogo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</a:rPr>
              <a:t>Trava: Catálogo idêntico ao modelo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14816" y="2971800"/>
            <a:ext cx="164592" cy="274320"/>
          </a:xfrm>
          <a:prstGeom prst="rightArrow">
            <a:avLst/>
          </a:prstGeom>
          <a:solidFill>
            <a:srgbClr val="D5DCE3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7696" y="2103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0576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</a:rPr>
              <a:t>Análise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</a:rPr>
              <a:t>6 perguntas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SQL e gráficos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</a:rPr>
              <a:t>Trava: Resumo gravado na nuvem</a:t>
            </a:r>
            <a:endParaRPr lang="en-US" sz="1100" dirty="0"/>
          </a:p>
        </p:txBody>
      </p:sp>
      <p:pic>
        <p:nvPicPr>
          <p:cNvPr id="28" name="Image 0" descr="C:\Users\tiago\AppData\Local\Temp\claude\C--Users-tiago-OneDrive-Desktop-UNB---8-SEMESTRE-PROD-PCP3\ef38f28d-4f81-42a0-9abb-deb201b57ed4\scratchpad\deck\job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89120"/>
            <a:ext cx="3383280" cy="92354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4160520" y="4526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</a:rPr>
              <a:t>Job executado no Databricks: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as cinco tarefas em sequência, todas concluídas, em cerca de 6 minutos. Se qualquer verificação falha, o job para.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160520" y="5349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Regras que mudam a leitura dos resultados: atraso por data-calendário (RN04), uma avaliação por pedido (RN10), pontos de geolocalização fora do Brasil descartados (RN12) e rota só para pedidos de um único vendedor (RN14).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ETAPA 3  ·  MODELAGEM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Três fatos, quatro dimensões e um catálogo vivo na plataforma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Cada fato guarda um único grão, para que nenhum valor seja contado duas vezes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67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fato_pedido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EE6"/>
                </a:solidFill>
              </a:rPr>
              <a:t>1 linha por pedido · 99.441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3E6F9E"/>
          </a:solidFill>
          <a:ln w="12700">
            <a:solidFill>
              <a:srgbClr val="3E6F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fato_item_pedido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EE6"/>
                </a:solidFill>
              </a:rPr>
              <a:t>1 linha por item · 112.650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3E6F9E"/>
          </a:solidFill>
          <a:ln w="12700">
            <a:solidFill>
              <a:srgbClr val="3E6F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04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fato_pagamento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EE6"/>
                </a:solidFill>
              </a:rPr>
              <a:t>1 linha por pagamento · 103.886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210312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21031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99"/>
                </a:solidFill>
              </a:rPr>
              <a:t>dim_cliente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276148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27614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99"/>
                </a:solidFill>
              </a:rPr>
              <a:t>dim_vendedor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3419856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3419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99"/>
                </a:solidFill>
              </a:rPr>
              <a:t>dim_produto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4078224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0" y="40782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99"/>
                </a:solidFill>
              </a:rPr>
              <a:t>dim_data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</a:rPr>
              <a:t>75 atributos catalogados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28523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</a:rPr>
              <a:t>Tipo, domínio, obrigatoriedade e linhagem num único arquivo, que o pipeline grava no Unity Catalog e usa para conferir cada coluna.</a:t>
            </a:r>
            <a:endParaRPr lang="en-US" sz="1200" dirty="0"/>
          </a:p>
        </p:txBody>
      </p:sp>
      <p:pic>
        <p:nvPicPr>
          <p:cNvPr id="25" name="Image 0" descr="C:\Users\tiago\AppData\Local\Temp\claude\C--Users-tiago-OneDrive-Desktop-UNB---8-SEMESTRE-PROD-PCP3\ef38f28d-4f81-42a0-9abb-deb201b57ed4\scratchpad\deck\catalogo_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965960"/>
            <a:ext cx="2743200" cy="2779776"/>
          </a:xfrm>
          <a:prstGeom prst="rect">
            <a:avLst/>
          </a:prstGeom>
        </p:spPr>
      </p:pic>
      <p:pic>
        <p:nvPicPr>
          <p:cNvPr id="26" name="Image 1" descr="C:\Users\tiago\OneDrive\Desktop\UNB - 8 SEMESTRE PROD\PCP3\mvp-olist-pipeline\evidencias\capturas\04_linhagem_fato_ped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965960"/>
            <a:ext cx="2377440" cy="27706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172200" y="4937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875"/>
                </a:solidFill>
              </a:rPr>
              <a:t>No Unity Catalog: colunas com chaves e descrições vindas do catálogo (esquerda) e a linhagem que a plataforma registrou sozinha (direita).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ETAPA 5  ·  QUALIDADE DOS DADOS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Base íntegra: nenhuma regra bloqueante violada, falhas isoladas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52 colunas de origem, 75 atributos do modelo e 21 regras avaliados, com resultados gravados em tabelas da gold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92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chaves duplicadas e registros órfãos nas fatos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690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</a:rPr>
              <a:t>1,4%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823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dos pedidos entregues com etapa de duração negativa, tratados pela RN07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109728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com mais de uma avaliação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Mantida a mais recente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do lead time com duração negativa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 da decomposição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de geolocalização fora do Brasil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 sem categoria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explícita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fora de ±60 dias (até 188)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Mantido: atraso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Última compra em 17/10/2018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para 2017 e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P2  ·  ORIGEM DO ATRASO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H1 refutada: o transporte, não a postagem, é a etapa que explode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Mediana de cada etapa do lead time, em dias, para pedidos atrasados e entregues no prazo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01168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1945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72,1%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907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dos atrasos com postagem no prazo (4.695 de 6.509): origem no transporte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18120" y="374904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39319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</a:rPr>
              <a:t>1,9 p.p.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6451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é o ganho máximo se todos os vendedores postassem em dia: de 6,8% para 4,9%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8640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</a:rPr>
              <a:t>O prazo prometido é igual nos dois grupos (23 e 24 dias). Os atrasados não tiveram promessa mais apertada: tiveram um transporte 3,7 vezes mais lento.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P1 E P3  ·  TEMPO E ESPAÇO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O atraso se concentra em três meses e em uma rota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Taxa de atraso por mês da compra (%) e rotas com maior peso no total de atrasos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7223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9659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</a:rPr>
              <a:t>48%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862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dos atrasos em nov/2017, fev/2018 e mar/2018, meses com 22% dos pedidos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37490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1040" y="3931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17,6%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645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de todos os atrasos vêm da rota SP→RJ (14,2% de atraso em 8.048 pedidos)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8640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Novembro foi pico de demanda (Black Friday, +63% de pedidos). Fevereiro e março não tiveram aumento de volume; a greve dos Correios iniciada em 12/03/2018 é hipótese compatível, não testada.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P4 E P5  ·  PROMESSA E CLIENTE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A promessa não está calibrada, e o cliente pune a partir do quarto dia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Percentual de avaliações com nota 1 ou 2 por faixa de atraso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0350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196596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99"/>
                </a:solidFill>
              </a:rPr>
              <a:t>Folgada demais no Norte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24688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AC, AP, RO e AM: prometem de 38 a 48 dias para entregas de 18 a 26, com menos de 4% de atraso.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03720" y="37947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</a:rPr>
              <a:t>Insuficiente no Nordeste e no Rio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42976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AL chega a 21,4% de atraso; o RJ soma cerca de 1.500 atrasos, 23% do total.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3212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</a:rPr>
              <a:t>Os pedidos atrasados são 6,7% dos avaliados e geram 32% das avaliações ruins. O gatilho de ação tem de ser a previsão do atraso, antes do primeiro 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P6 E DISCUSSÃO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Ordem de ação: transporte, promessa e, por último, vendedores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Um quarto dos vendedores gera 80% das postagens tardias, mas a postagem explica pouco do atraso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</a:rPr>
              <a:t>Transportadora nas rotas críticas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103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Acordo de nível de serviço em SP→RJ e nas rotas para o Nordeste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1031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</a:rPr>
              <a:t>4,9 p.p. da taxa vêm do transporte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443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</a:rPr>
              <a:t>Contingência para picos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443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Capacidade extra antes de novembro e plano para paralisações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9443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</a:rPr>
              <a:t>48% dos atrasos em 3 meses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7856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</a:rPr>
              <a:t>Promessa por rota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7856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Prazo pelo percentil 90 do transporte, validado em teste A/B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78561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</a:rPr>
              <a:t>Atraso de 2,8% a 21,4% entre UFs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72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6268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</a:rPr>
              <a:t>Contato proativo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62686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Alerta quando a entrega prevista passar da data prometida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462686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</a:rPr>
              <a:t>68% de notas ruins com 4 a 7 dias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13832"/>
            <a:ext cx="502920" cy="502920"/>
          </a:xfrm>
          <a:prstGeom prst="ellipse">
            <a:avLst/>
          </a:prstGeom>
          <a:solidFill>
            <a:srgbClr val="9AA5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513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4681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</a:rPr>
              <a:t>Programa de vendedores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4681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162 de 615 vendedores geram 80% das postagens tardias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546811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</a:rPr>
              <a:t>Ganho máximo de 1,9 p.p.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VALIDAÇÃO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Duas implementações independentes chegaram aos mesmos números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Uma segunda versão em pandas, escrita só a partir das regras de negócio, sem acesso aos notebooks do Databricks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5F99"/>
                </a:solidFill>
              </a:rPr>
              <a:t>255 / 256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92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comparações dentro da tolerância, nenhuma divergência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206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</a:rPr>
              <a:t>1 erro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194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encontrado e corrigido no pipeline graças à conciliação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103120"/>
            <a:ext cx="7269480" cy="3657600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286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99"/>
                </a:solidFill>
              </a:rPr>
              <a:t>O que a conciliação pegou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517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Na primeira rodada, as faixas de distância diferiam em 1 a 4 pedidos. A causa: o pipeline arredondava a distância antes de classificar, e um pedido a 99,96 km virava 100,0 km e mudava de faixa. Removido o arredondamento, as faixas passaram a coincidir exatamente.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1605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5"/>
                </a:solidFill>
              </a:rPr>
              <a:t>A diferença restante é de 1 pedido em P2: um atraso sem data de postagem, que o Databricks deixa sem origem e o pandas atribui ao transporte. Está documentada no relatório de conciliação.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</a:rPr>
              <a:t>ETAPA 6  ·  AUTOAVALIAÇÃO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5F99"/>
                </a:solidFill>
              </a:rPr>
              <a:t>Seis perguntas respondidas; duas com limites declarados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5"/>
                </a:solidFill>
              </a:rPr>
              <a:t>Respostas às quatro questões de autoavaliação do enunciado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99"/>
                </a:solidFill>
              </a:rPr>
              <a:t>Respondido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</a:rPr>
              <a:t>As seis perguntas. Parciais: a causa dos picos de fevereiro e março (P1) e o efeito da promessa longa na conversão (P4).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</a:rPr>
              <a:t>Limites dos dados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974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</a:rPr>
              <a:t>Sem identificação da transportadora, uma postagem por pedido, dados até 2018 e meses finais censurados, avaliação observacional.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</a:rPr>
              <a:t>Faria diferente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</a:rPr>
              <a:t>Origem do atraso contrafactual em vez da regra binária, e o transporte modelado por percentis desde a silver.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42062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99"/>
                </a:solidFill>
              </a:rPr>
              <a:t>Para uso contínuo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8006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</a:rPr>
              <a:t>Ingestão incremental, job agendado com alertas por rota, modelo preditivo de atraso e painel para o gestor.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C4D0"/>
                </a:solidFill>
              </a:rPr>
              <a:t>SÍNTESE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intuição apontava para o vendedor.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Os dados apontaram para o transporte.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6"/>
                </a:solidFill>
              </a:rPr>
              <a:t>Pipeline em nuvem ponta a ponta, 28 tabelas Delta, 75 atributos catalogados, qualidade verificada em 21 regras e números confirmados por uma segunda implementação. O que falta para decidir está nomeado: dados de transportadora e um teste controlado de cada ação.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0"/>
                </a:solidFill>
              </a:rPr>
              <a:t>Tiago Andre Gondim  ·  231013476  ·  EPR0050 T01  ·  github.com/tiagondim-cpu/mvp-olist-pipeline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VP Olist">
  <a:themeElements>
    <a:clrScheme name="MVP Olist">
      <a:dk1>
        <a:srgbClr val="1E2A36"/>
      </a:dk1>
      <a:lt1>
        <a:srgbClr val="FFFFFF"/>
      </a:lt1>
      <a:dk2>
        <a:srgbClr val="13283B"/>
      </a:dk2>
      <a:lt2>
        <a:srgbClr val="EEF2F6"/>
      </a:lt2>
      <a:accent1>
        <a:srgbClr val="1F5F99"/>
      </a:accent1>
      <a:accent2>
        <a:srgbClr val="D9822B"/>
      </a:accent2>
      <a:accent3>
        <a:srgbClr val="6C8EAD"/>
      </a:accent3>
      <a:accent4>
        <a:srgbClr val="9AA5B1"/>
      </a:accent4>
      <a:accent5>
        <a:srgbClr val="2E7D5B"/>
      </a:accent5>
      <a:accent6>
        <a:srgbClr val="A23B3B"/>
      </a:accent6>
      <a:hlink>
        <a:srgbClr val="1F5F99"/>
      </a:hlink>
      <a:folHlink>
        <a:srgbClr val="6C8EAD"/>
      </a:folHlink>
    </a:clrScheme>
    <a:fontScheme name="MVP Oli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 PSP8: onde o prazo de entrega falha</dc:title>
  <dc:subject>PptxGenJS Presentation</dc:subject>
  <dc:creator>Tiago Andre Gondim</dc:creator>
  <cp:lastModifiedBy>Tiago Andre Gondim</cp:lastModifiedBy>
  <cp:revision>1</cp:revision>
  <dcterms:created xsi:type="dcterms:W3CDTF">2026-10-21T16:48:29Z</dcterms:created>
  <dcterms:modified xsi:type="dcterms:W3CDTF">2026-10-21T16:48:29Z</dcterms:modified>
</cp:coreProperties>
</file>